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0:00-0:12. Open on the question, not the tech. The image behind the title is not stock art — it is a real elevation render from our dataset, which is the point the next fourteen slides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0:12-0:28. One statement slide, full accent colour. Say it and stop. The pause before the next slide is doing work: the audience should feel they do not actually know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0:28-0:50. Do not disparage these sites: they are well chosen. The gap is that none of them come with a number you can check or compare. Keep it to about twenty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0:50-1:05. Three steps, fifteen seconds. If you are cutting to a screen recording at any point in this talk, do it here — show the Explorer once, briefly, then come back to the slides for the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1:05-1:20. The three cards are deliberately identical in shape: that visual sameness is the argument. Land on the twelve-kilometre number and explain why that size — landforms fit, a traverse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1:20-1:35. This is the step people skip and it is where most naive comparisons break. Say the sentence about slope being a property of the grid: it is the single most technically credible line in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1:35-1:55. Do not read the table aloud. Name two or three features, then spend the time on the two cards underneath — the datum point and the robust scaling are what make the comparison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1:55-2:10. The line that lands is "no model, no training data". Judges see a lot of black boxes in a hackathon; a closed-form score they could check with a calculator is a genuine differentiator. Say the not-a-percentage line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2:10-2:30. Lead with the four numbers. The line that earns trust is the footer: we also documented the eight sources we looked at and chose not to integrate, with a reason for each. Mention that the thermal layer exists but is weighted zero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2:30-2:50. Let the two images sit for a beat before saying anything: people compare them before they read. Then the number, then the last line. If you cut to a live demo anywhere, this is the strongest moment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2:50-3:08. This is the slide that separates the project from a leaderboard. Emphasise that the explanation is not a write-up we authored — it is computed from the same numbers that produced the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3:08-3:22. Askja is the example to use because it is a site people recognise: a famous analog that our own tool refuses to score. Saying that out loud is more convincing than any accuracy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3:22-3:42. Give this twenty seconds. Read the first three rows quickly, then slow down on the last one. Naming your own weak point before a judge finds it is the strongest credibility move in the whole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3:42-3:55. Two columns, read the right one more slowly than the left. Resist the urge to oversell here; the restraint is the point, and it is what a reviewer will remember when they compare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3:55-4:00. Replace the live-app placeholder with the deployed URL before recording. Close on the team name out loud and stop — no thank-you slide, no outro music over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4"/>
            <a:ext cx="10566400" cy="617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30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3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50458"/>
            <a:ext cx="10566400" cy="39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4"/>
            <a:ext cx="10566400" cy="617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30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3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50458"/>
            <a:ext cx="10566400" cy="39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llshade render of the 12 km measurement window at Connecting ridge, near the lunar south pole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8796" r="8796" t="0" b="0"/>
          <a:stretch/>
        </p:blipFill>
        <p:spPr>
          <a:xfrm>
            <a:off x="6540500" y="0"/>
            <a:ext cx="56515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40500" y="0"/>
            <a:ext cx="5651500" cy="6858000"/>
          </a:xfrm>
          <a:prstGeom prst="rect">
            <a:avLst/>
          </a:prstGeom>
          <a:gradFill rotWithShape="1">
            <a:gsLst>
              <a:gs pos="0">
                <a:srgbClr val="10100F"/>
              </a:gs>
              <a:gs pos="32000">
                <a:srgbClr val="10100F">
                  <a:alpha val="75000"/>
                </a:srgbClr>
              </a:gs>
              <a:gs pos="100000">
                <a:srgbClr val="10100F">
                  <a:alpha val="1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1825387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NASA SPACE APPS CHALLENGE 2026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216547"/>
            <a:ext cx="6540500" cy="1476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Terrestrial</a:t>
            </a:r>
            <a:endParaRPr lang="en-US" sz="5600" dirty="0"/>
          </a:p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Analog Finder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12800" y="3845163"/>
            <a:ext cx="5886450" cy="676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places on Earth actually look like the Moon? Measured, not argued.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12800" y="4674473"/>
            <a:ext cx="1589881" cy="358140"/>
          </a:xfrm>
          <a:prstGeom prst="roundRect">
            <a:avLst>
              <a:gd name="adj" fmla="val 14184"/>
            </a:avLst>
          </a:prstGeom>
          <a:solidFill>
            <a:srgbClr val="2DD4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0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ghostblood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529681" y="4746863"/>
            <a:ext cx="2194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94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 minute walkthrough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6238240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Backdrop: real hillshade of the 12 km LOLA window at Connecting ridge, lunar south pole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D4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96085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B5F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81225"/>
            <a:ext cx="10464800" cy="218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400" b="1" i="0" dirty="0">
                <a:solidFill>
                  <a:srgbClr val="1010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hardware goes to the Moon, it is tested somewhere on Earth.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12800" y="4595495"/>
            <a:ext cx="981075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B5F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somewhere — and on what evidence?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1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5F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69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0461"/>
            <a:ext cx="10072370" cy="101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i="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Analog sites are chosen by reputation, not by measurement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865438"/>
            <a:ext cx="3397250" cy="1621790"/>
          </a:xfrm>
          <a:prstGeom prst="roundRect">
            <a:avLst>
              <a:gd name="adj" fmla="val 6069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3121343"/>
            <a:ext cx="297200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Atacama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3484563"/>
            <a:ext cx="297200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Named in Mars papers for decades. On which measured property, at which scale?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2865438"/>
            <a:ext cx="3397250" cy="1621790"/>
          </a:xfrm>
          <a:prstGeom prst="roundRect">
            <a:avLst>
              <a:gd name="adj" fmla="val 6069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3280" y="3121343"/>
            <a:ext cx="297200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Haughton Crater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53280" y="3484563"/>
            <a:ext cx="297200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standing analog site. Nobody publishes the number it matches 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2865438"/>
            <a:ext cx="3397250" cy="1621790"/>
          </a:xfrm>
          <a:prstGeom prst="roundRect">
            <a:avLst>
              <a:gd name="adj" fmla="val 6069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4680" y="3121343"/>
            <a:ext cx="297200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Devon Island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34680" y="3484563"/>
            <a:ext cx="297200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Chosen, defended, repeated. Never ranked against the alternatives.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224780"/>
            <a:ext cx="1007237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These are good choices. They were </a:t>
            </a:r>
            <a:r>
              <a:rPr lang="en-US" sz="18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argued for</a:t>
            </a:r>
            <a:r>
              <a:rPr lang="en-US" sz="180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computed — so you cannot ask for the best match to one specific lunar ridge, on one property, at one scale, and see the evidence.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1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0461"/>
            <a:ext cx="10595610" cy="930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search engine for Earth analogs, where every score shows its working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5975" y="2823369"/>
            <a:ext cx="3414157" cy="1949450"/>
          </a:xfrm>
          <a:prstGeom prst="roundRect">
            <a:avLst>
              <a:gd name="adj" fmla="val 5049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pic>
        <p:nvPicPr>
          <p:cNvPr id="5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3053874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3434874"/>
            <a:ext cx="304174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a reference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6480" y="3795554"/>
            <a:ext cx="304174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Twelve planetary sites: eight lunar south-polar regions and four well-studied regions of Mars.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8882" y="2823369"/>
            <a:ext cx="3414236" cy="1949450"/>
          </a:xfrm>
          <a:prstGeom prst="roundRect">
            <a:avLst>
              <a:gd name="adj" fmla="val 5049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9387" y="3053874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9387" y="3434874"/>
            <a:ext cx="304182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what matters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19387" y="3795554"/>
            <a:ext cx="304182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weight the terrain features yourself. Nothing is weighted behind your back.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61868" y="2823369"/>
            <a:ext cx="3414157" cy="1949450"/>
          </a:xfrm>
          <a:prstGeom prst="roundRect">
            <a:avLst>
              <a:gd name="adj" fmla="val 5049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pic>
        <p:nvPicPr>
          <p:cNvPr id="13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92374" y="3053874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2374" y="3434874"/>
            <a:ext cx="304174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why it ranked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192374" y="3795554"/>
            <a:ext cx="304174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score breaks down feature by feature, with each missing measurement named.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5550536"/>
            <a:ext cx="10595610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558 Earth windows, ranked against the reference you chose, in under a second.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39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942578"/>
            <a:ext cx="457200" cy="457200"/>
          </a:xfrm>
          <a:prstGeom prst="roundRect">
            <a:avLst>
              <a:gd name="adj" fmla="val 13889"/>
            </a:avLst>
          </a:prstGeom>
          <a:solidFill>
            <a:srgbClr val="0069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AFA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422400" y="812800"/>
            <a:ext cx="102555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69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METHOD, STEP ONE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422400" y="1076961"/>
            <a:ext cx="10255504" cy="47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Cut the same window on all three bodies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15975" y="2442449"/>
            <a:ext cx="3397250" cy="156591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6480" y="2672953"/>
            <a:ext cx="30243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2A7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6480" y="296251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LRO LOLA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6480" y="3297793"/>
            <a:ext cx="302432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South-polar terrain models, analysis-ready from USGS Astrogeology. CC0.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7375" y="2442449"/>
            <a:ext cx="3397250" cy="156591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7880" y="2672953"/>
            <a:ext cx="30243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C74F2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7880" y="296251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MRO CTX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27880" y="3297793"/>
            <a:ext cx="302432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Stereo DTMs around well-studied landing regions. CC0.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78775" y="2442449"/>
            <a:ext cx="3397250" cy="156591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9280" y="2672953"/>
            <a:ext cx="30243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07D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EARTH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9280" y="296251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Copernicus DEM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09280" y="3297793"/>
            <a:ext cx="302432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GLO-30, read straight from cloud-optimised tiles on AWS Open Data.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2800" y="4921250"/>
            <a:ext cx="10566400" cy="920750"/>
          </a:xfrm>
          <a:prstGeom prst="roundRect">
            <a:avLst>
              <a:gd name="adj" fmla="val 11034"/>
            </a:avLst>
          </a:prstGeom>
          <a:solidFill>
            <a:srgbClr val="F1F0EC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5184775"/>
            <a:ext cx="243306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3100" b="1" dirty="0">
                <a:solidFill>
                  <a:srgbClr val="1B1B1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 × 12 km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3606800" y="5124450"/>
            <a:ext cx="774395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window size everywhere. Big enough to hold landforms, small enough that a rover traverse fits inside it.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39"/>
            <a:ext cx="28751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— Three archives, one geometry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942578"/>
            <a:ext cx="457200" cy="457200"/>
          </a:xfrm>
          <a:prstGeom prst="roundRect">
            <a:avLst>
              <a:gd name="adj" fmla="val 13889"/>
            </a:avLst>
          </a:prstGeom>
          <a:solidFill>
            <a:srgbClr val="0069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AFA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422400" y="812800"/>
            <a:ext cx="102555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69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METHOD, STEP TWO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422400" y="1076961"/>
            <a:ext cx="10255504" cy="47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them all on one 30 metre grid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12800" y="2190750"/>
            <a:ext cx="6592824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window is reprojected into a local azimuthal-equidistant grid centred on its own coordinates, using the correct figure for its body — then resampled to 30 metres.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188971"/>
            <a:ext cx="6592824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Slope and roughness are properties of the grid you measure them on. Without this step, a 5 m lunar product and a 30 m Earth product would never be comparable, and every number after it would be meaningless.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45375" y="2193925"/>
            <a:ext cx="3930650" cy="36449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75880" y="2424432"/>
            <a:ext cx="35737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Native resolution, before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75880" y="2759712"/>
            <a:ext cx="346964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754632"/>
            <a:ext cx="0" cy="192024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62240" y="2828292"/>
          <a:ext cx="3307080" cy="1783080"/>
        </p:xfrm>
        <a:graphic>
          <a:graphicData uri="http://schemas.openxmlformats.org/drawingml/2006/table">
            <a:tbl>
              <a:tblPr/>
              <a:tblGrid>
                <a:gridCol w="1521257"/>
                <a:gridCol w="1785823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Source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78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LRO LOLA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m / pixel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74F2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MRO CTX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~20 m / pixel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7D6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Copernicus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~30 m (1 arc-second)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Image 0" descr="line">    </p:cNvPr>
          <p:cNvPicPr>
            <a:picLocks noChangeAspect="1"/>
          </p:cNvPicPr>
          <p:nvPr/>
        </p:nvPicPr>
        <p:blipFill>
          <a:blip r:embed="rId1"/>
          <a:srcRect l="-12544" r="-12544" t="0" b="0"/>
          <a:stretch/>
        </p:blipFill>
        <p:spPr>
          <a:xfrm>
            <a:off x="7675880" y="4776471"/>
            <a:ext cx="3469640" cy="10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75880" y="4888232"/>
            <a:ext cx="3573729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After:</a:t>
            </a:r>
            <a:r>
              <a:rPr lang="en-US" sz="140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every window on a common 30 m grid, and windows below the valid-cell threshold are rejected, not scored.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12800" y="6238239"/>
            <a:ext cx="2866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— Like with like, by construction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915352"/>
            <a:ext cx="457200" cy="457200"/>
          </a:xfrm>
          <a:prstGeom prst="roundRect">
            <a:avLst>
              <a:gd name="adj" fmla="val 13889"/>
            </a:avLst>
          </a:prstGeom>
          <a:solidFill>
            <a:srgbClr val="0069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AFA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422400" y="785654"/>
            <a:ext cx="102555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69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METHOD, STEP THREE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422400" y="1049815"/>
            <a:ext cx="10769600" cy="47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every window with the same six numbers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12800" y="1759664"/>
            <a:ext cx="105664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880" y="1754584"/>
            <a:ext cx="0" cy="2755265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7260" y="1853644"/>
          <a:ext cx="10327640" cy="2567305"/>
        </p:xfrm>
        <a:graphic>
          <a:graphicData uri="http://schemas.openxmlformats.org/drawingml/2006/table">
            <a:tbl>
              <a:tblPr/>
              <a:tblGrid>
                <a:gridCol w="3304845"/>
                <a:gridCol w="4957267"/>
                <a:gridCol w="2065528"/>
              </a:tblGrid>
              <a:tr h="366713"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captures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Local relief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vertical range the terrain spans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metres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Median slope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steep it is, typically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degrees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792"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90th-percentile slope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steep the difficult tenth is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degrees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792"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Short-baseline roughness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Texture at rover scale, not landform scale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metres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792"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Hypsometric integral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Whether mass sits high or low in the window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 to 1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792"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Slope distribution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whole histogram, compared as a distribution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71"/>
                        </a:lnSpc>
                        <a:buNone/>
                      </a:pPr>
                      <a:r>
                        <a:rPr lang="en-US" sz="1337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Wasserstein-1</a:t>
                      </a:r>
                      <a:endParaRPr lang="en-US" sz="1337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9417" marR="59417" marT="59417" marB="5941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4792424"/>
            <a:ext cx="5200650" cy="1046401"/>
          </a:xfrm>
          <a:prstGeom prst="roundRect">
            <a:avLst>
              <a:gd name="adj" fmla="val 8192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1080" y="4972129"/>
            <a:ext cx="4934153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Datum-independent by design.</a:t>
            </a:r>
            <a:r>
              <a:rPr lang="en-US" sz="145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Absolute elevation cannot be compared across bodies, so it is reported for context and never scored.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75375" y="4792424"/>
            <a:ext cx="5200650" cy="1046401"/>
          </a:xfrm>
          <a:prstGeom prst="roundRect">
            <a:avLst>
              <a:gd name="adj" fmla="val 8192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0480" y="4972129"/>
            <a:ext cx="4934153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Robust-scaled.</a:t>
            </a:r>
            <a:r>
              <a:rPr lang="en-US" sz="145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Each difference is divided by that feature's inter-quartile range, so metres and degrees contribute comparably.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12800" y="6238239"/>
            <a:ext cx="30973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— Five scalars and one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SCORE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7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model. A distance you can re-derive by hand.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5975" y="2416572"/>
            <a:ext cx="5434330" cy="2023427"/>
          </a:xfrm>
          <a:prstGeom prst="roundRect">
            <a:avLst>
              <a:gd name="adj" fmla="val 4864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672479"/>
            <a:ext cx="50701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 = sqrt( Σ wᵢ dᵢ² / Σ wᵢ )</a:t>
            </a:r>
            <a:endParaRPr lang="en-US" sz="1500" dirty="0"/>
          </a:p>
        </p:txBody>
      </p:sp>
      <p:pic>
        <p:nvPicPr>
          <p:cNvPr id="6" name="Image 0" descr="line">    </p:cNvPr>
          <p:cNvPicPr>
            <a:picLocks noChangeAspect="1"/>
          </p:cNvPicPr>
          <p:nvPr/>
        </p:nvPicPr>
        <p:blipFill>
          <a:blip r:embed="rId1"/>
          <a:srcRect l="-12515" r="-12515" t="0" b="0"/>
          <a:stretch/>
        </p:blipFill>
        <p:spPr>
          <a:xfrm>
            <a:off x="1071880" y="3123329"/>
            <a:ext cx="4922520" cy="1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880" y="3260486"/>
            <a:ext cx="507019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AFA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 = 100 · exp(−D)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59855" y="2416572"/>
            <a:ext cx="4916170" cy="646430"/>
          </a:xfrm>
          <a:prstGeom prst="roundRect">
            <a:avLst>
              <a:gd name="adj" fmla="val 13261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52260" y="2570879"/>
            <a:ext cx="106426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 = 100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92720" y="2624060"/>
            <a:ext cx="3492627" cy="25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on the features you selected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59855" y="3158254"/>
            <a:ext cx="4916170" cy="646430"/>
          </a:xfrm>
          <a:prstGeom prst="roundRect">
            <a:avLst>
              <a:gd name="adj" fmla="val 13261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52260" y="3312557"/>
            <a:ext cx="91955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C8C7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 ≈ 37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648019" y="3365739"/>
            <a:ext cx="3641669" cy="25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 by one inter-quartile range on average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59855" y="3899932"/>
            <a:ext cx="4916170" cy="540068"/>
          </a:xfrm>
          <a:prstGeom prst="roundRect">
            <a:avLst>
              <a:gd name="adj" fmla="val 15873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pic>
        <p:nvPicPr>
          <p:cNvPr id="15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52260" y="4055666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07860" y="4054239"/>
            <a:ext cx="4301033" cy="25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probability, and not a percentage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12800" y="5276217"/>
            <a:ext cx="10595610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missing measurement is counted as a mismatch of a stated size and named in the output — it is never quietly filled in with a zero.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812800" y="6238242"/>
            <a:ext cx="53265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— Deterministic: the same inputs always give the same output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69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47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570 locations, built from eight public archives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5975" y="1988424"/>
            <a:ext cx="2540000" cy="15621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93528"/>
            <a:ext cx="21936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B1B1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21080" y="2701528"/>
            <a:ext cx="219368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planetary references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lunar · 4 Martian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89325" y="1988424"/>
            <a:ext cx="2540000" cy="15621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4430" y="2193528"/>
            <a:ext cx="21936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B1B1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558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94430" y="2701528"/>
            <a:ext cx="219368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Earth candidates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named · 538 survey cells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2675" y="1988424"/>
            <a:ext cx="2540000" cy="15621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7780" y="2193528"/>
            <a:ext cx="21936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B1B1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469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67780" y="2701528"/>
            <a:ext cx="219368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windows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89 excluded, each with a reason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36025" y="1988424"/>
            <a:ext cx="2540000" cy="15621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1130" y="2193528"/>
            <a:ext cx="21936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B1B1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41130" y="2701528"/>
            <a:ext cx="219368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 datasets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cited, licensed, DOI'd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963672"/>
            <a:ext cx="105664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880" y="3958592"/>
            <a:ext cx="0" cy="188341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4560" y="4044952"/>
          <a:ext cx="10353040" cy="1720850"/>
        </p:xfrm>
        <a:graphic>
          <a:graphicData uri="http://schemas.openxmlformats.org/drawingml/2006/table">
            <a:tbl>
              <a:tblPr/>
              <a:tblGrid>
                <a:gridCol w="1760017"/>
                <a:gridCol w="4969459"/>
                <a:gridCol w="3623564"/>
              </a:tblGrid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Body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Elevation and surface products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Thermal and mineral layer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A78D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LRO LOLA south-polar DTMs (USGS, CC0)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LRO Diviner polar resource product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C74F2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Mars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MRO CTX controlled DTMs (USGS, CC0)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MGS TES nightside thermal inertia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23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007D6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Earth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Copernicus DEM GLO-30 (ESA)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ECOSTRESS LST · VIIRS albedo · EMIT minerals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12800" y="6238242"/>
            <a:ext cx="6950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— Eight more sources were investigated and documented as deliberately not used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00" kern="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WORKED RESULT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4745"/>
            <a:ext cx="10883392" cy="808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850" b="1" i="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Connecting ridge, lunar south pole → the Transantarctic Dry Valleys</a:t>
            </a:r>
            <a:endParaRPr lang="en-US" sz="2850" dirty="0"/>
          </a:p>
        </p:txBody>
      </p:sp>
      <p:pic>
        <p:nvPicPr>
          <p:cNvPr id="4" name="Image 0" descr="Hillshade of the 12 km window at Connecting ridge on the Mo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9150" y="2074385"/>
            <a:ext cx="2527300" cy="2527300"/>
          </a:xfrm>
          <a:prstGeom prst="roundRect">
            <a:avLst>
              <a:gd name="adj" fmla="val 3266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2071210"/>
            <a:ext cx="2533650" cy="2533650"/>
          </a:xfrm>
          <a:prstGeom prst="roundRect">
            <a:avLst>
              <a:gd name="adj" fmla="val 3383"/>
            </a:avLst>
          </a:prstGeom>
          <a:noFill/>
          <a:ln w="6350">
            <a:solidFill>
              <a:srgbClr val="3836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684235"/>
            <a:ext cx="261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7DB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 · Connecting ridge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12800" y="4982685"/>
            <a:ext cx="2616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594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89.45° S, 137.42° W · LRO LOLA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888992" y="2591910"/>
            <a:ext cx="241401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6600" b="1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79.1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4787900" y="3519010"/>
            <a:ext cx="26162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similarity index out of 100, at </a:t>
            </a:r>
            <a:r>
              <a:rPr lang="en-US" sz="1400" b="1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data coverage</a:t>
            </a:r>
            <a:endParaRPr lang="en-US" sz="1400" dirty="0"/>
          </a:p>
        </p:txBody>
      </p:sp>
      <p:pic>
        <p:nvPicPr>
          <p:cNvPr id="10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0000" y="4105752"/>
            <a:ext cx="2032000" cy="63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7900" y="4201002"/>
            <a:ext cx="261620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Ranked first of 558 Earth windows, with 91 excluded and every exclusion stated</a:t>
            </a:r>
            <a:endParaRPr lang="en-US" sz="1250" dirty="0"/>
          </a:p>
        </p:txBody>
      </p:sp>
      <p:pic>
        <p:nvPicPr>
          <p:cNvPr id="12" name="Image 2" descr="Hillshade of the 12 km window at the Transantarctic Mountains Dry Valleys survey cell on Eart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45550" y="2074385"/>
            <a:ext cx="2527300" cy="2527300"/>
          </a:xfrm>
          <a:prstGeom prst="roundRect">
            <a:avLst>
              <a:gd name="adj" fmla="val 3266"/>
            </a:avLst>
          </a:prstGeom>
        </p:spPr>
      </p:pic>
      <p:sp>
        <p:nvSpPr>
          <p:cNvPr id="13" name="Shape 8"/>
          <p:cNvSpPr/>
          <p:nvPr/>
        </p:nvSpPr>
        <p:spPr>
          <a:xfrm>
            <a:off x="8842375" y="2071210"/>
            <a:ext cx="2533650" cy="2533650"/>
          </a:xfrm>
          <a:prstGeom prst="roundRect">
            <a:avLst>
              <a:gd name="adj" fmla="val 3383"/>
            </a:avLst>
          </a:prstGeom>
          <a:noFill/>
          <a:ln w="6350">
            <a:solidFill>
              <a:srgbClr val="38362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839200" y="4684235"/>
            <a:ext cx="261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4D3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Candidate · Dry Valleys cell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839200" y="4982685"/>
            <a:ext cx="2616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594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78.50° S, 163.50° E · Copernicus DEM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12800" y="5571728"/>
            <a:ext cx="10595610" cy="295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2"/>
              </a:lnSpc>
              <a:buNone/>
            </a:pPr>
            <a:r>
              <a:rPr lang="en-US" sz="1609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renders come out of the same pipeline, at the same scale. Nobody picked this pair — the ranking did.</a:t>
            </a:r>
            <a:endParaRPr lang="en-US" sz="1609" dirty="0"/>
          </a:p>
        </p:txBody>
      </p:sp>
      <p:sp>
        <p:nvSpPr>
          <p:cNvPr id="17" name="Text 12"/>
          <p:cNvSpPr/>
          <p:nvPr/>
        </p:nvSpPr>
        <p:spPr>
          <a:xfrm>
            <a:off x="812800" y="6238242"/>
            <a:ext cx="27531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— Default weights, terrain only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69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THIS RANK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47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any result and the score comes apart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5975" y="2206544"/>
            <a:ext cx="3414157" cy="2071370"/>
          </a:xfrm>
          <a:prstGeom prst="roundRect">
            <a:avLst>
              <a:gd name="adj" fmla="val 4139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pic>
        <p:nvPicPr>
          <p:cNvPr id="5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780" y="2424354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780" y="2767254"/>
            <a:ext cx="306790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measured values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3780" y="3099991"/>
            <a:ext cx="3067903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feature: what the reference measures, what the candidate measures, and how far apart they are in robust units.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8882" y="2206544"/>
            <a:ext cx="3414236" cy="2071370"/>
          </a:xfrm>
          <a:prstGeom prst="roundRect">
            <a:avLst>
              <a:gd name="adj" fmla="val 4139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06687" y="2424354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6687" y="2767254"/>
            <a:ext cx="306798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drives the gap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06687" y="3099991"/>
            <a:ext cx="30679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feature's share of the remaining distance, so you can see which one is actually costing the match.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961868" y="2206544"/>
            <a:ext cx="3414157" cy="2071370"/>
          </a:xfrm>
          <a:prstGeom prst="roundRect">
            <a:avLst>
              <a:gd name="adj" fmla="val 4139"/>
            </a:avLst>
          </a:prstGeom>
          <a:solidFill>
            <a:srgbClr val="FFFFFF"/>
          </a:solidFill>
          <a:ln w="6350">
            <a:solidFill>
              <a:srgbClr val="E3E1DA"/>
            </a:solidFill>
            <a:prstDash val="solid"/>
          </a:ln>
        </p:spPr>
      </p:sp>
      <p:pic>
        <p:nvPicPr>
          <p:cNvPr id="13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9674" y="2424354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79674" y="2767254"/>
            <a:ext cx="306790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distributions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79674" y="3099991"/>
            <a:ext cx="306790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4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Slope histograms and relative-elevation curves overlaid, plus the two hillshades side by side.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12800" y="4904104"/>
            <a:ext cx="10566400" cy="937895"/>
          </a:xfrm>
          <a:prstGeom prst="roundRect">
            <a:avLst>
              <a:gd name="adj" fmla="val 10833"/>
            </a:avLst>
          </a:prstGeom>
          <a:solidFill>
            <a:srgbClr val="F1F0EC"/>
          </a:solidFill>
          <a:ln/>
        </p:spPr>
      </p:sp>
      <p:pic>
        <p:nvPicPr>
          <p:cNvPr id="17" name="Image 3" descr="Verifie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66800" y="5207955"/>
            <a:ext cx="330200" cy="330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74800" y="5107304"/>
            <a:ext cx="9836912" cy="556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a weight and the whole ranking recomputes in front of you — including the breakdown. There is no cached answer to disagree with.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12800" y="6238242"/>
            <a:ext cx="769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— Plus provenance: source DOI, licence, coordinate origin and processing for every window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DATA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47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gap is named, never filled 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5975" y="3012126"/>
            <a:ext cx="4819650" cy="2826702"/>
          </a:xfrm>
          <a:prstGeom prst="roundRect">
            <a:avLst>
              <a:gd name="adj" fmla="val 3482"/>
            </a:avLst>
          </a:prstGeom>
          <a:solidFill>
            <a:srgbClr val="201F1D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3268030"/>
            <a:ext cx="44370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WORKED EXAMPLE · ASKJA, ICELAND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880" y="3595688"/>
            <a:ext cx="44370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ranked at all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880" y="4014788"/>
            <a:ext cx="4437075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caldera lake is masked out of the elevation model, so the window is only </a:t>
            </a:r>
            <a:r>
              <a:rPr lang="en-US" sz="1450" b="1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91.9% valid</a:t>
            </a:r>
            <a:r>
              <a:rPr lang="en-US" sz="14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We exclude it and say why, rather than scoring a famous analog site on partial data.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845175" y="3012126"/>
            <a:ext cx="5530850" cy="870268"/>
          </a:xfrm>
          <a:prstGeom prst="roundRect">
            <a:avLst>
              <a:gd name="adj" fmla="val 9850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0280" y="3191830"/>
            <a:ext cx="52742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50280" y="3471230"/>
            <a:ext cx="5274259" cy="25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missing feature is listed on the candidate it belongs to.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845175" y="3990342"/>
            <a:ext cx="5530850" cy="870268"/>
          </a:xfrm>
          <a:prstGeom prst="roundRect">
            <a:avLst>
              <a:gd name="adj" fmla="val 9850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0280" y="4170046"/>
            <a:ext cx="52742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Penalised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50280" y="4449446"/>
            <a:ext cx="5274259" cy="25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Counted as a mismatch of a stated size, never as a match.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45175" y="4968559"/>
            <a:ext cx="5530850" cy="870268"/>
          </a:xfrm>
          <a:prstGeom prst="roundRect">
            <a:avLst>
              <a:gd name="adj" fmla="val 9850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0280" y="5148263"/>
            <a:ext cx="52742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imputed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50280" y="5427663"/>
            <a:ext cx="5274259" cy="25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zero-fill, no interpolation, no silent substitution.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7108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— 91 of 558 candidates were excluded from this search, each with its reason shown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69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203180" cy="930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1B1B1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tried to break our own ranking, and published where it broke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2800" y="2336324"/>
            <a:ext cx="105664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880" y="2331244"/>
            <a:ext cx="0" cy="226441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7260" y="2443004"/>
          <a:ext cx="10327640" cy="2051050"/>
        </p:xfrm>
        <a:graphic>
          <a:graphicData uri="http://schemas.openxmlformats.org/drawingml/2006/table">
            <a:tbl>
              <a:tblPr/>
              <a:tblGrid>
                <a:gridCol w="4750714"/>
                <a:gridCol w="2272081"/>
                <a:gridCol w="2065528"/>
                <a:gridCol w="1239317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Perturbation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Spearman ρ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Top-10 kept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B1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Verdict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Randomise every weight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7D6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0.998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 / 10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7D6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Stable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Drop any single feature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7D6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0.986+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/ 10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7D6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Stable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Coarsen the grid to 90 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7D6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0.983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 / 10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7D6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Stable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Halve the window to 6 km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4530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0.912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49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/ 10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4530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Moves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5975" y="4897121"/>
            <a:ext cx="10560050" cy="941705"/>
          </a:xfrm>
          <a:prstGeom prst="roundRect">
            <a:avLst>
              <a:gd name="adj" fmla="val 10452"/>
            </a:avLst>
          </a:prstGeom>
          <a:solidFill>
            <a:srgbClr val="FEF6EA"/>
          </a:solidFill>
          <a:ln w="6350">
            <a:solidFill>
              <a:srgbClr val="F0D9B5"/>
            </a:solidFill>
            <a:prstDash val="solid"/>
          </a:ln>
        </p:spPr>
      </p:sp>
      <p:pic>
        <p:nvPicPr>
          <p:cNvPr id="8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5215576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5102225"/>
            <a:ext cx="9852609" cy="556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result is scale dependent.</a:t>
            </a:r>
            <a:r>
              <a:rPr lang="en-US" sz="1550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Change the window size and the ranking moves. That is a real limitation of the method, and it is on the methodology page rather than hidden in a footnote.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12800" y="6238242"/>
            <a:ext cx="64943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— Nine experiments, shipped in the app and re-runnable from the repository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IS, AND IS NOT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4"/>
            <a:ext cx="10883392" cy="47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64"/>
              </a:lnSpc>
              <a:buNone/>
            </a:pPr>
            <a:r>
              <a:rPr lang="en-US" sz="3300" b="1" i="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starting point, not a verdict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5975" y="2301323"/>
            <a:ext cx="5187950" cy="2253933"/>
          </a:xfrm>
          <a:prstGeom prst="roundRect">
            <a:avLst>
              <a:gd name="adj" fmla="val 4367"/>
            </a:avLst>
          </a:prstGeom>
          <a:solidFill>
            <a:srgbClr val="201F1D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557227"/>
            <a:ext cx="4816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381" y="2872184"/>
            <a:ext cx="4737303" cy="1167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499" indent="-182499">
              <a:lnSpc>
                <a:spcPts val="2248"/>
              </a:lnSpc>
              <a:buSzPct val="100000"/>
              <a:buChar char="•"/>
            </a:pPr>
            <a:r>
              <a:rPr lang="en-US" sz="14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measured, reproducible shortlist</a:t>
            </a:r>
            <a:endParaRPr lang="en-US" sz="1450" dirty="0"/>
          </a:p>
          <a:p>
            <a:pPr algn="l" marL="182499" indent="-182499">
              <a:lnSpc>
                <a:spcPts val="2248"/>
              </a:lnSpc>
              <a:buSzPct val="100000"/>
              <a:buChar char="•"/>
            </a:pPr>
            <a:r>
              <a:rPr lang="en-US" sz="14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Terrain geometry at 12 km and 30 m</a:t>
            </a:r>
            <a:endParaRPr lang="en-US" sz="1450" dirty="0"/>
          </a:p>
          <a:p>
            <a:pPr algn="l" marL="182499" indent="-182499">
              <a:lnSpc>
                <a:spcPts val="2248"/>
              </a:lnSpc>
              <a:buSzPct val="100000"/>
              <a:buChar char="•"/>
            </a:pPr>
            <a:r>
              <a:rPr lang="en-US" sz="14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Traceable to eight public archives</a:t>
            </a:r>
            <a:endParaRPr lang="en-US" sz="1450" dirty="0"/>
          </a:p>
          <a:p>
            <a:pPr algn="l" marL="182499" indent="-182499">
              <a:lnSpc>
                <a:spcPts val="2248"/>
              </a:lnSpc>
              <a:buSzPct val="100000"/>
              <a:buChar char="•"/>
            </a:pPr>
            <a:r>
              <a:rPr lang="en-US" sz="1450" dirty="0">
                <a:solidFill>
                  <a:srgbClr val="C8C7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Re-derivable without this app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88075" y="2301323"/>
            <a:ext cx="5187950" cy="2253933"/>
          </a:xfrm>
          <a:prstGeom prst="roundRect">
            <a:avLst>
              <a:gd name="adj" fmla="val 4367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3980" y="2557227"/>
            <a:ext cx="4816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NOT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5481" y="2872184"/>
            <a:ext cx="4737303" cy="145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499" indent="-182499">
              <a:lnSpc>
                <a:spcPts val="2248"/>
              </a:lnSpc>
              <a:buSzPct val="100000"/>
              <a:buChar char="•"/>
            </a:pPr>
            <a:r>
              <a:rPr lang="en-US" sz="145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probability or a percentage</a:t>
            </a:r>
            <a:endParaRPr lang="en-US" sz="1450" dirty="0"/>
          </a:p>
          <a:p>
            <a:pPr algn="l" marL="182499" indent="-182499">
              <a:lnSpc>
                <a:spcPts val="2248"/>
              </a:lnSpc>
              <a:buSzPct val="100000"/>
              <a:buChar char="•"/>
            </a:pPr>
            <a:r>
              <a:rPr lang="en-US" sz="145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landing-site recommendation</a:t>
            </a:r>
            <a:endParaRPr lang="en-US" sz="1450" dirty="0"/>
          </a:p>
          <a:p>
            <a:pPr algn="l" marL="182499" indent="-182499">
              <a:lnSpc>
                <a:spcPts val="2248"/>
              </a:lnSpc>
              <a:buSzPct val="100000"/>
              <a:buChar char="•"/>
            </a:pPr>
            <a:r>
              <a:rPr lang="en-US" sz="145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habitability judgement</a:t>
            </a:r>
            <a:endParaRPr lang="en-US" sz="1450" dirty="0"/>
          </a:p>
          <a:p>
            <a:pPr algn="l" marL="182499" indent="-182499">
              <a:lnSpc>
                <a:spcPts val="2248"/>
              </a:lnSpc>
              <a:buSzPct val="100000"/>
              <a:buChar char="•"/>
            </a:pPr>
            <a:r>
              <a:rPr lang="en-US" sz="145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 of gravity, atmosphere, radiation, illumination or regolith depth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12800" y="5276217"/>
            <a:ext cx="10595610" cy="59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Nine named scientific limitations are listed in the app, next to the results they limit — not buried in a paper nobody opens.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llshade render of the 12 km window at the Jezero crater region on Mars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15741" r="15741" t="0" b="0"/>
          <a:stretch/>
        </p:blipFill>
        <p:spPr>
          <a:xfrm>
            <a:off x="7493000" y="0"/>
            <a:ext cx="469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gradFill rotWithShape="1">
            <a:gsLst>
              <a:gs pos="0">
                <a:srgbClr val="10100F"/>
              </a:gs>
              <a:gs pos="40000">
                <a:srgbClr val="10100F">
                  <a:alpha val="80000"/>
                </a:srgbClr>
              </a:gs>
              <a:gs pos="100000">
                <a:srgbClr val="10100F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812800"/>
            <a:ext cx="77177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TRY IT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1140464"/>
            <a:ext cx="7717790" cy="875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100" b="1" i="0" dirty="0">
                <a:solidFill>
                  <a:srgbClr val="FAF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measured starting point for the people who choose where to test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815975" y="2800666"/>
            <a:ext cx="7486650" cy="830580"/>
          </a:xfrm>
          <a:prstGeom prst="roundRect">
            <a:avLst>
              <a:gd name="adj" fmla="val 10321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pic>
        <p:nvPicPr>
          <p:cNvPr id="7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1080" y="3082609"/>
            <a:ext cx="266700" cy="266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4780" y="2967676"/>
            <a:ext cx="68832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APP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414780" y="3206434"/>
            <a:ext cx="6883222" cy="28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[paste your deployed URL]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15975" y="3739201"/>
            <a:ext cx="7486650" cy="830580"/>
          </a:xfrm>
          <a:prstGeom prst="roundRect">
            <a:avLst>
              <a:gd name="adj" fmla="val 10321"/>
            </a:avLst>
          </a:prstGeom>
          <a:solidFill>
            <a:srgbClr val="201F1D"/>
          </a:solidFill>
          <a:ln w="6350">
            <a:solidFill>
              <a:srgbClr val="38362F"/>
            </a:solidFill>
            <a:prstDash val="solid"/>
          </a:ln>
        </p:spPr>
      </p:sp>
      <p:pic>
        <p:nvPicPr>
          <p:cNvPr id="11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1080" y="4021138"/>
            <a:ext cx="266700" cy="266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4780" y="3906205"/>
            <a:ext cx="68832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SOURCE, PIPELINE AND METHODOLOGY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414780" y="4144962"/>
            <a:ext cx="6883222" cy="28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github.com/shishir-kuet/terrestrial-analog-finder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12800" y="5401314"/>
            <a:ext cx="1842294" cy="419100"/>
          </a:xfrm>
          <a:prstGeom prst="roundRect">
            <a:avLst>
              <a:gd name="adj" fmla="val 12121"/>
            </a:avLst>
          </a:prstGeom>
          <a:solidFill>
            <a:srgbClr val="2DD4B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0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ghostblood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807494" y="5379721"/>
            <a:ext cx="523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entry, NASA Space Apps Challenge 2026. Not affiliated with or endorsed by NASA, ESA or USGS.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94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— Backdrop: 12 km CTX window, Jezero crater region, Mars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estrial Analog Finder — 4 minute presentation">
  <a:themeElements>
    <a:clrScheme name="Terrestrial Analog Finder — 4 minute presentation">
      <a:dk1>
        <a:srgbClr val="10100F"/>
      </a:dk1>
      <a:lt1>
        <a:srgbClr val="FAFAF8"/>
      </a:lt1>
      <a:dk2>
        <a:srgbClr val="272726"/>
      </a:dk2>
      <a:lt2>
        <a:srgbClr val="C0C0BE"/>
      </a:lt2>
      <a:accent1>
        <a:srgbClr val="2DD4BF"/>
      </a:accent1>
      <a:accent2>
        <a:srgbClr val="00695C"/>
      </a:accent2>
      <a:accent3>
        <a:srgbClr val="0B5F55"/>
      </a:accent3>
      <a:accent4>
        <a:srgbClr val="FBBF24"/>
      </a:accent4>
      <a:accent5>
        <a:srgbClr val="2A78D6"/>
      </a:accent5>
      <a:accent6>
        <a:srgbClr val="C74F22"/>
      </a:accent6>
      <a:hlink>
        <a:srgbClr val="0563C1"/>
      </a:hlink>
      <a:folHlink>
        <a:srgbClr val="954F72"/>
      </a:folHlink>
    </a:clrScheme>
    <a:fontScheme name="Terrestrial Analog Finder — 4 minute presentation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Terrestrial Analog Finder — 4 minute presentation</dc:title>
  <dc:subject/>
  <dc:creator/>
  <cp:lastModifiedBy/>
  <cp:revision>1</cp:revision>
  <dcterms:created xsi:type="dcterms:W3CDTF">2026-10-10T13:57:56Z</dcterms:created>
  <dcterms:modified xsi:type="dcterms:W3CDTF">2026-10-10T13:57:56Z</dcterms:modified>
</cp:coreProperties>
</file>